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30" Type="http://schemas.openxmlformats.org/officeDocument/2006/relationships/image" Target="../media/icon_Abstract.png"/><Relationship Id="rId31" Type="http://schemas.openxmlformats.org/officeDocument/2006/relationships/image" Target="../media/icon_Problem.png"/><Relationship Id="rId32" Type="http://schemas.openxmlformats.org/officeDocument/2006/relationships/image" Target="../media/icon_Existing.png"/><Relationship Id="rId33" Type="http://schemas.openxmlformats.org/officeDocument/2006/relationships/image" Target="../media/icon_Feasibility.png"/><Relationship Id="rId34" Type="http://schemas.openxmlformats.org/officeDocument/2006/relationships/image" Target="../media/icon_Tools.png"/><Relationship Id="rId35" Type="http://schemas.openxmlformats.org/officeDocument/2006/relationships/image" Target="../media/icon_Arch.png"/><Relationship Id="rId36" Type="http://schemas.openxmlformats.org/officeDocument/2006/relationships/image" Target="../media/icon_ER.png"/><Relationship Id="rId37" Type="http://schemas.openxmlformats.org/officeDocument/2006/relationships/image" Target="../media/icon_Shots.png"/><Relationship Id="rId38" Type="http://schemas.openxmlformats.org/officeDocument/2006/relationships/image" Target="../media/icon_Results.png"/><Relationship Id="rId39" Type="http://schemas.openxmlformats.org/officeDocument/2006/relationships/image" Target="../media/icon_Conclusion.png"/><Relationship Id="rId40" Type="http://schemas.openxmlformats.org/officeDocument/2006/relationships/image" Target="../media/icon_Futur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ooter Bar"/>
          <p:cNvSpPr/>
          <p:nvPr/>
        </p:nvSpPr>
        <p:spPr>
          <a:xfrm>
            <a:off x="0" y="14310360"/>
            <a:ext cx="10693908" cy="827532"/>
          </a:xfrm>
          <a:prstGeom prst="rect">
            <a:avLst/>
          </a:prstGeom>
          <a:solidFill>
            <a:srgbClr val="5B21B6"/>
          </a:solidFill>
          <a:ln>
            <a:noFill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 MANAGEMENT &amp; ANALYTICS PORTAL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No: 21  |  Section: 2  |  Guide: Dr. Sateesh Kumar Ramatenki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P. Nithya Sai – 2520030517, D. Namith Rao – 2520030249, T. HimaBindu Sree – 2520030484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194560"/>
            <a:ext cx="418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portal centralizing property management for owners, agents and users, with listing CRUD, advanced search/filtering, analytics dashboards and admin verification.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property discovery, organized listings and visual analytics.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977640"/>
            <a:ext cx="418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property data, manual listing management, difficult search/comparison, and no centralized analytics or admin monitoring.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property information and listing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Search/filter by location, price, type, area, bedrooms, amenities and availability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analytics dashboards and admin verification/monitoring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6400800"/>
            <a:ext cx="418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 data, manual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Centralized, easy add/update/delete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search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multi-criteria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dashboard with charts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monitor listings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verification/monitoring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organized, slow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Structured, faster, efficient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86968" y="9555480"/>
            <a:ext cx="418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Node.js, Express.js and MySQL are widely available, well-documented tools.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 open-source stack, so no licensing cost.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listings, search/filtering, analytics and admin verification support the intended workflow.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completion within the semester timeline.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16002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005322" y="2194560"/>
            <a:ext cx="418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JavaScript, React.js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 + REST APIs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b="1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Code, Git / GitHub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4114" y="38404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05322" y="3931920"/>
            <a:ext cx="418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2976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2976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6720840"/>
            <a:ext cx="4844034" cy="32004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05322" y="6812280"/>
            <a:ext cx="418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178040"/>
            <a:ext cx="456971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05322" y="10149840"/>
            <a:ext cx="41856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86968" y="12664440"/>
            <a:ext cx="2479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CRUD operations tested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filters work correctly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login: User, Owner, Agent, Admin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 and analytics verified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connectivity and REST APIs checked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299204" y="12664440"/>
            <a:ext cx="2479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centralized platform for property management and improves property discovery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owners and agents manage listings and supports analysis through dashboards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711440" y="12664440"/>
            <a:ext cx="2479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298448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property recommendations</a:t>
            </a:r>
            <a:endParaRPr lang="en-US" sz="1000" dirty="0"/>
          </a:p>
          <a:p>
            <a:pPr marL="190500" indent="-1905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property tours</a:t>
            </a:r>
            <a:endParaRPr lang="en-US" sz="1000" dirty="0"/>
          </a:p>
          <a:p>
            <a:pPr marL="190500" indent="-1905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1000" dirty="0"/>
          </a:p>
          <a:p>
            <a:pPr marL="190500" indent="-1905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property price analytics</a:t>
            </a:r>
            <a:endParaRPr lang="en-US" sz="1000" dirty="0"/>
          </a:p>
          <a:p>
            <a:pPr marL="190500" indent="-1905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booking and payments</a:t>
            </a:r>
            <a:endParaRPr lang="en-US" sz="1000" dirty="0"/>
          </a:p>
          <a:p>
            <a:pPr marL="190500" indent="-1905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for scalability</a:t>
            </a:r>
            <a:endParaRPr lang="en-US" sz="1000" dirty="0"/>
          </a:p>
          <a:p>
            <a:pPr marL="190500" indent="-1905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security and multilingual support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02920" y="147858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supplied by the team   |   Technologies: React.js, Node.js, Express.js, MySQL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9509760" y="14356080"/>
            <a:ext cx="731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pic>
        <p:nvPicPr>
          <p:cNvPr id="90" name="Architecture" descr="Proposed system architecture diagra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6994" y="4343400"/>
            <a:ext cx="4478274" cy="2082000"/>
          </a:xfrm>
          <a:prstGeom prst="rect">
            <a:avLst/>
          </a:prstGeom>
        </p:spPr>
      </p:pic>
      <p:pic>
        <p:nvPicPr>
          <p:cNvPr id="91" name="ER Diagram" descr="ER diagram of the property portal databa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1571" y="7204632"/>
            <a:ext cx="4389120" cy="2552855"/>
          </a:xfrm>
          <a:prstGeom prst="rect">
            <a:avLst/>
          </a:prstGeom>
        </p:spPr>
      </p:pic>
      <p:pic>
        <p:nvPicPr>
          <p:cNvPr id="92" name="KLH Logo" descr="KLH University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" y="320040"/>
            <a:ext cx="1280160" cy="1280160"/>
          </a:xfrm>
          <a:prstGeom prst="rect">
            <a:avLst/>
          </a:prstGeom>
        </p:spPr>
      </p:pic>
      <p:pic>
        <p:nvPicPr>
          <p:cNvPr id="93" name="Screenshot Home" descr="PropertyPortal home page with search filter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76138" y="10625328"/>
            <a:ext cx="2106549" cy="1054823"/>
          </a:xfrm>
          <a:prstGeom prst="rect">
            <a:avLst/>
          </a:prstGeom>
          <a:ln w="9525">
            <a:solidFill>
              <a:srgbClr val="94A3B8"/>
            </a:solidFill>
          </a:ln>
        </p:spPr>
      </p:pic>
      <p:sp>
        <p:nvSpPr>
          <p:cNvPr id="94" name="Caption 1"/>
          <p:cNvSpPr txBox="1"/>
          <p:nvPr/>
        </p:nvSpPr>
        <p:spPr>
          <a:xfrm>
            <a:off x="5676138" y="11771591"/>
            <a:ext cx="2106549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b="1">
                <a:solidFill>
                  <a:srgbClr val="0F766E"/>
                </a:solidFill>
              </a:rPr>
              <a:t>Home page: property search &amp; filters</a:t>
            </a:r>
          </a:p>
        </p:txBody>
      </p:sp>
      <p:pic>
        <p:nvPicPr>
          <p:cNvPr id="95" name="GitHub QR" descr="QR code linking to the GitHub repositor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4624" y="14410944"/>
            <a:ext cx="621792" cy="621792"/>
          </a:xfrm>
          <a:prstGeom prst="rect">
            <a:avLst/>
          </a:prstGeom>
        </p:spPr>
      </p:pic>
      <p:pic>
        <p:nvPicPr>
          <p:cNvPr id="96" name="Screenshot Login" descr="PropertyPortal login p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9575" y="10625328"/>
            <a:ext cx="2106549" cy="1054823"/>
          </a:xfrm>
          <a:prstGeom prst="rect">
            <a:avLst/>
          </a:prstGeom>
          <a:ln w="9525">
            <a:solidFill>
              <a:srgbClr val="94A3B8"/>
            </a:solidFill>
          </a:ln>
        </p:spPr>
      </p:pic>
      <p:sp>
        <p:nvSpPr>
          <p:cNvPr id="97" name="Caption 2"/>
          <p:cNvSpPr txBox="1"/>
          <p:nvPr/>
        </p:nvSpPr>
        <p:spPr>
          <a:xfrm>
            <a:off x="8029575" y="11771591"/>
            <a:ext cx="2106549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100" b="1">
                <a:solidFill>
                  <a:srgbClr val="0F766E"/>
                </a:solidFill>
              </a:rPr>
              <a:t>Login page: role-based access</a:t>
            </a:r>
          </a:p>
        </p:txBody>
      </p:sp>
      <p:pic>
        <p:nvPicPr>
          <p:cNvPr id="100" name="Icon Abstract" descr="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2920" y="2217420"/>
            <a:ext cx="274320" cy="274320"/>
          </a:xfrm>
          <a:prstGeom prst="rect">
            <a:avLst/>
          </a:prstGeom>
        </p:spPr>
      </p:pic>
      <p:pic>
        <p:nvPicPr>
          <p:cNvPr id="101" name="Icon Problem" descr="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2920" y="4000500"/>
            <a:ext cx="274320" cy="274320"/>
          </a:xfrm>
          <a:prstGeom prst="rect">
            <a:avLst/>
          </a:prstGeom>
        </p:spPr>
      </p:pic>
      <p:pic>
        <p:nvPicPr>
          <p:cNvPr id="102" name="Icon Existing" descr="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2920" y="6423660"/>
            <a:ext cx="274320" cy="274320"/>
          </a:xfrm>
          <a:prstGeom prst="rect">
            <a:avLst/>
          </a:prstGeom>
        </p:spPr>
      </p:pic>
      <p:pic>
        <p:nvPicPr>
          <p:cNvPr id="103" name="Icon Feasibility" descr="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02920" y="9578340"/>
            <a:ext cx="274320" cy="274320"/>
          </a:xfrm>
          <a:prstGeom prst="rect">
            <a:avLst/>
          </a:prstGeom>
        </p:spPr>
      </p:pic>
      <p:pic>
        <p:nvPicPr>
          <p:cNvPr id="104" name="Icon Tools" descr="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21274" y="2217420"/>
            <a:ext cx="274320" cy="274320"/>
          </a:xfrm>
          <a:prstGeom prst="rect">
            <a:avLst/>
          </a:prstGeom>
        </p:spPr>
      </p:pic>
      <p:pic>
        <p:nvPicPr>
          <p:cNvPr id="105" name="Icon Arch" descr="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621274" y="3954780"/>
            <a:ext cx="274320" cy="274320"/>
          </a:xfrm>
          <a:prstGeom prst="rect">
            <a:avLst/>
          </a:prstGeom>
        </p:spPr>
      </p:pic>
      <p:pic>
        <p:nvPicPr>
          <p:cNvPr id="106" name="Icon ER" descr="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621274" y="6835140"/>
            <a:ext cx="274320" cy="274320"/>
          </a:xfrm>
          <a:prstGeom prst="rect">
            <a:avLst/>
          </a:prstGeom>
        </p:spPr>
      </p:pic>
      <p:pic>
        <p:nvPicPr>
          <p:cNvPr id="107" name="Icon Shots" descr="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621274" y="10172700"/>
            <a:ext cx="274320" cy="274320"/>
          </a:xfrm>
          <a:prstGeom prst="rect">
            <a:avLst/>
          </a:prstGeom>
        </p:spPr>
      </p:pic>
      <p:pic>
        <p:nvPicPr>
          <p:cNvPr id="108" name="Icon Results" descr="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02920" y="12687300"/>
            <a:ext cx="274320" cy="274320"/>
          </a:xfrm>
          <a:prstGeom prst="rect">
            <a:avLst/>
          </a:prstGeom>
        </p:spPr>
      </p:pic>
      <p:pic>
        <p:nvPicPr>
          <p:cNvPr id="109" name="Icon Conclusion" descr="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915156" y="12687300"/>
            <a:ext cx="274320" cy="274320"/>
          </a:xfrm>
          <a:prstGeom prst="rect">
            <a:avLst/>
          </a:prstGeom>
        </p:spPr>
      </p:pic>
      <p:pic>
        <p:nvPicPr>
          <p:cNvPr id="110" name="Icon Future" descr="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327392" y="12687300"/>
            <a:ext cx="274320" cy="274320"/>
          </a:xfrm>
          <a:prstGeom prst="rect">
            <a:avLst/>
          </a:prstGeom>
        </p:spPr>
      </p:pic>
      <p:sp>
        <p:nvSpPr>
          <p:cNvPr id="121" name="Tagline"/>
          <p:cNvSpPr txBox="1"/>
          <p:nvPr/>
        </p:nvSpPr>
        <p:spPr>
          <a:xfrm>
            <a:off x="502920" y="1437436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 i="1" b="1">
                <a:solidFill>
                  <a:srgbClr val="FFFFFF"/>
                </a:solidFill>
                <a:latin typeface="Calibri"/>
              </a:rPr>
              <a:t>Property Search Made Simple</a:t>
            </a:r>
          </a:p>
        </p:txBody>
      </p:sp>
      <p:sp>
        <p:nvSpPr>
          <p:cNvPr id="122" name="Footer Info"/>
          <p:cNvSpPr txBox="1"/>
          <p:nvPr/>
        </p:nvSpPr>
        <p:spPr>
          <a:xfrm>
            <a:off x="4754880" y="1442923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i="0" b="0">
                <a:solidFill>
                  <a:srgbClr val="FDE68A"/>
                </a:solidFill>
                <a:latin typeface="Calibri"/>
              </a:rPr>
              <a:t>KLH Bachupally Campus  |  Team No: 21  |  Section: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